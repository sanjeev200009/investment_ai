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1C3D5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C3D5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MID-DEMONSTRATION · PHASE 2</a:t>
            </a:r>
            <a:endParaRPr lang="en-US" sz="1050" dirty="0"/>
          </a:p>
        </p:txBody>
      </p:sp>
      <p:pic>
        <p:nvPicPr>
          <p:cNvPr id="6" name="Image 0" descr="./icons/robot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233172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1488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InvestAI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Investment Assistant for Beginner Investors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Colombo Stock Exchange (CSE)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4343400"/>
            <a:ext cx="4754880" cy="0"/>
          </a:xfrm>
          <a:prstGeom prst="line">
            <a:avLst/>
          </a:prstGeom>
          <a:noFill/>
          <a:ln w="19050">
            <a:solidFill>
              <a:srgbClr val="1C3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526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Sanjeev  —  Backend &amp; Database Engineering
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Sajeevan  —  Frontend &amp; UI Integration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in Computer Science  ·  Final Year Research Project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all four project objectives and where we stand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272284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8" name="Image 0" descr="./icons/target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24185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30552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 &amp; Architecture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600200" y="2532888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our solution, and system design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24448" y="1965960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0480" y="2272284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3" name="Image 1" descr="./icons/chart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6784" y="24185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6008" y="2130552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The AI Assistant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376008" y="2532888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 for beginner investors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64992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671316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8" name="Image 2" descr="./icons/cogs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76" y="38176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529584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Agentic Workflows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00200" y="393192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scraping + automated recommendations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24448" y="3364992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0480" y="3671316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3" name="Image 3" descr="./icons/users_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6784" y="381762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6008" y="3529584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User Satisfaction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376008" y="393192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usability &amp; feedback from real investors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764024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4672" y="5070348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8" name="Image 4" descr="./icons/scale_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0976" y="5216652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4928616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Performance Benchmarking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600200" y="533095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vs. traditional research methods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24448" y="4764024"/>
            <a:ext cx="5318608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580480" y="5070348"/>
            <a:ext cx="621792" cy="62179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33" name="Image 5" descr="./icons/tie_FFFFFF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6784" y="5216652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76008" y="4928616"/>
            <a:ext cx="412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&amp; Roadmap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7376008" y="5330952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split and path to final submission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InvestAI?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knowledge gap for first-time CSE investors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3077"/>
            </a:avLst>
          </a:prstGeom>
          <a:solidFill>
            <a:srgbClr val="FDF3EE"/>
          </a:solidFill>
          <a:ln/>
          <a:effectLst>
            <a:outerShdw sx="100000" sy="100000" kx="0" ky="0" algn="bl" rotWithShape="0" blurRad="127000" dist="25400" dir="5400000">
              <a:srgbClr val="0B1E33">
                <a:alpha val="7000"/>
              </a:srgbClr>
            </a:outerShdw>
          </a:effectLst>
        </p:spPr>
      </p:sp>
      <p:pic>
        <p:nvPicPr>
          <p:cNvPr id="7" name="Image 0" descr="./icons/warn_F5B94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286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31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investors in Sri Lanka lack accessible, personalized financial education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researching CSE stocks &amp; news is slow, fragmented, and overwhelming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robo-advisors don't adapt to individual risk tolerance or local market context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tool combines real-time data with plain-language investment guidance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94960" cy="4160520"/>
          </a:xfrm>
          <a:prstGeom prst="roundRect">
            <a:avLst>
              <a:gd name="adj" fmla="val 3077"/>
            </a:avLst>
          </a:prstGeom>
          <a:solidFill>
            <a:srgbClr val="002743"/>
          </a:solidFill>
          <a:ln/>
          <a:effectLst>
            <a:outerShdw sx="100000" sy="100000" kx="0" ky="0" algn="bl" rotWithShape="0" blurRad="152400" dist="38100" dir="5400000">
              <a:srgbClr val="0B1E33">
                <a:alpha val="10000"/>
              </a:srgbClr>
            </a:outerShdw>
          </a:effectLst>
        </p:spPr>
      </p:sp>
      <p:pic>
        <p:nvPicPr>
          <p:cNvPr id="11" name="Image 1" descr="./icons/bulb_F5B94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2286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331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9718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assistant that reasons over live CSE market data &amp; news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guidance based on each user's risk profile and goals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scraping + sentiment analysis for timely, data-backed insights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experience built for first-time, everyday investors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mobile app, backend services, and AI pipeline work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450592"/>
            <a:ext cx="585216" cy="585216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8" name="Image 0" descr="./icons/mobile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6212" y="25877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08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2286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450592"/>
            <a:ext cx="585216" cy="585216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3" name="Image 1" descr="./icons/server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692" y="25877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3108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24612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 Streaming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2286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54012" y="2450592"/>
            <a:ext cx="585216" cy="585216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8" name="Image 2" descr="./icons/robot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1172" y="25877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43600" y="3108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94360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· RAG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641080" y="2286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651492" y="2450592"/>
            <a:ext cx="585216" cy="585216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3" name="Image 3" descr="./icons/database_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8652" y="25877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41080" y="31089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641080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pgvector · Data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172968" y="2912364"/>
            <a:ext cx="603504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27" name="Shape 21"/>
          <p:cNvSpPr/>
          <p:nvPr/>
        </p:nvSpPr>
        <p:spPr>
          <a:xfrm>
            <a:off x="5870448" y="2912364"/>
            <a:ext cx="603504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28" name="Shape 22"/>
          <p:cNvSpPr/>
          <p:nvPr/>
        </p:nvSpPr>
        <p:spPr>
          <a:xfrm>
            <a:off x="8567928" y="2912364"/>
            <a:ext cx="603504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29" name="Shape 23"/>
          <p:cNvSpPr/>
          <p:nvPr/>
        </p:nvSpPr>
        <p:spPr>
          <a:xfrm>
            <a:off x="548640" y="43434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C3D5A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pic>
        <p:nvPicPr>
          <p:cNvPr id="30" name="Image 4" descr="./icons/cloud_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808" y="4544568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" y="496519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49808" y="530352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scraping &amp; rules engine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383280" y="43434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C3D5A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pic>
        <p:nvPicPr>
          <p:cNvPr id="34" name="Image 5" descr="./icons/chart_FFFFFF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84448" y="454456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584448" y="496519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Scraper + Sentiment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3584448" y="530352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news, VADER scoring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217920" y="43434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C3D5A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pic>
        <p:nvPicPr>
          <p:cNvPr id="38" name="Image 6" descr="./icons/shield_FFFFFF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9088" y="4544568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19088" y="496519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OTP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419088" y="530352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verification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9052560" y="43434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C3D5A"/>
          </a:solidFill>
          <a:ln/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pic>
        <p:nvPicPr>
          <p:cNvPr id="42" name="Image 7" descr="./icons/bell_FFFFFF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53728" y="4544568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53728" y="4965192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9253728" y="5303520"/>
            <a:ext cx="220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One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progress across all research objectives as of Phase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574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9A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554480" y="2318004"/>
            <a:ext cx="438912" cy="43891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9" name="Image 0" descr="./icons/robot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4208" y="24277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2176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AI Investment Assistant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86600" y="2436876"/>
            <a:ext cx="3749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12" name="Shape 9"/>
          <p:cNvSpPr/>
          <p:nvPr/>
        </p:nvSpPr>
        <p:spPr>
          <a:xfrm>
            <a:off x="7086600" y="2436876"/>
            <a:ext cx="2624328" cy="20116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/>
        </p:spPr>
      </p:sp>
      <p:sp>
        <p:nvSpPr>
          <p:cNvPr id="13" name="Text 10"/>
          <p:cNvSpPr/>
          <p:nvPr/>
        </p:nvSpPr>
        <p:spPr>
          <a:xfrm>
            <a:off x="10927080" y="20574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145536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" y="3145536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9A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1554480" y="3406140"/>
            <a:ext cx="438912" cy="43891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7" name="Image 1" descr="./icons/cogs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4208" y="35158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94560" y="3264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Agentic Workflows &amp; Scraping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086600" y="3525012"/>
            <a:ext cx="3749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20" name="Shape 16"/>
          <p:cNvSpPr/>
          <p:nvPr/>
        </p:nvSpPr>
        <p:spPr>
          <a:xfrm>
            <a:off x="7086600" y="3525012"/>
            <a:ext cx="2061972" cy="20116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/>
        </p:spPr>
      </p:sp>
      <p:sp>
        <p:nvSpPr>
          <p:cNvPr id="21" name="Text 17"/>
          <p:cNvSpPr/>
          <p:nvPr/>
        </p:nvSpPr>
        <p:spPr>
          <a:xfrm>
            <a:off x="10927080" y="3145536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4233672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77240" y="4233672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9A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1554480" y="4494276"/>
            <a:ext cx="438912" cy="43891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5" name="Image 2" descr="./icons/users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4208" y="460400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194560" y="4352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User Satisfaction &amp; Trust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086600" y="4613148"/>
            <a:ext cx="3749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28" name="Shape 23"/>
          <p:cNvSpPr/>
          <p:nvPr/>
        </p:nvSpPr>
        <p:spPr>
          <a:xfrm>
            <a:off x="7086600" y="461314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29" name="Text 24"/>
          <p:cNvSpPr/>
          <p:nvPr/>
        </p:nvSpPr>
        <p:spPr>
          <a:xfrm>
            <a:off x="10927080" y="423367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548640" y="5321808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777240" y="5321808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9A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2" name="Shape 27"/>
          <p:cNvSpPr/>
          <p:nvPr/>
        </p:nvSpPr>
        <p:spPr>
          <a:xfrm>
            <a:off x="1554480" y="5582412"/>
            <a:ext cx="438912" cy="438912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33" name="Image 3" descr="./icons/scale_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64208" y="56921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19456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vs. Traditional Methods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086600" y="5701284"/>
            <a:ext cx="3749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36" name="Shape 30"/>
          <p:cNvSpPr/>
          <p:nvPr/>
        </p:nvSpPr>
        <p:spPr>
          <a:xfrm>
            <a:off x="7086600" y="5701284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37" name="Text 31"/>
          <p:cNvSpPr/>
          <p:nvPr/>
        </p:nvSpPr>
        <p:spPr>
          <a:xfrm>
            <a:off x="10927080" y="532180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AI Investment Assistant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027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develop an AI-powered investment assistant that delivers personalized financial education and investment guidance tailored to beginner investors in the Sri Lankan stock market."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321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5824728" cy="20116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13" name="Image 0" descr="./icons/check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32461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467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mobile screens built: Home, Chat, Portfolio, Watchlist, Learn, Auth flow, Assessment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chat router with SSE streaming architecture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schema: users, portfolios, chat sessions, risk profiles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Auth: registration, OTP verification, login, password reset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34340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44568" y="3154680"/>
            <a:ext cx="384048" cy="384048"/>
          </a:xfrm>
          <a:prstGeom prst="ellipse">
            <a:avLst/>
          </a:prstGeom>
          <a:solidFill>
            <a:srgbClr val="E8A93A"/>
          </a:solidFill>
          <a:ln/>
        </p:spPr>
      </p:sp>
      <p:pic>
        <p:nvPicPr>
          <p:cNvPr id="18" name="Image 1" descr="./icons/cogs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324612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943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the agentic AI reasoning loop into the chat backend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mobile Chat screen to live backend responses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Risk-profiling quiz results feeding into personalized advice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verification hardening for secure sessions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813816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39328" y="3154680"/>
            <a:ext cx="384048" cy="384048"/>
          </a:xfrm>
          <a:prstGeom prst="ellipse">
            <a:avLst/>
          </a:prstGeom>
          <a:solidFill>
            <a:srgbClr val="1C3D5A"/>
          </a:solidFill>
          <a:ln/>
        </p:spPr>
      </p:sp>
      <p:pic>
        <p:nvPicPr>
          <p:cNvPr id="23" name="Image 2" descr="./icons/route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768" y="32461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2396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9419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tool-calling loop (stock data, news, portfolio tools)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end-to-end: Register → Assess Risk → Chat → Recommend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Sinhala / Tamil language support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onboarding &amp; personalization UX</a:t>
            </a:r>
            <a:endParaRPr lang="en-US" sz="106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· UI SHOWCASE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Walkthrough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screens built for the beginner-investor experience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15875">
            <a:solidFill>
              <a:srgbClr val="89A8CA"/>
            </a:solidFill>
            <a:prstDash val="dash"/>
          </a:ln>
        </p:spPr>
      </p:sp>
      <p:pic>
        <p:nvPicPr>
          <p:cNvPr id="7" name="Image 0" descr="./icons/mobile_89A8C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8488" y="356616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9A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 SCREENSHOT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5788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19659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15875">
            <a:solidFill>
              <a:srgbClr val="89A8CA"/>
            </a:solidFill>
            <a:prstDash val="dash"/>
          </a:ln>
        </p:spPr>
      </p:sp>
      <p:pic>
        <p:nvPicPr>
          <p:cNvPr id="11" name="Image 1" descr="./icons/mobile_89A8C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1416" y="356616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9A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 SCREENSHOT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38728" y="5788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15875">
            <a:solidFill>
              <a:srgbClr val="89A8CA"/>
            </a:solidFill>
            <a:prstDash val="dash"/>
          </a:ln>
        </p:spPr>
      </p:sp>
      <p:pic>
        <p:nvPicPr>
          <p:cNvPr id="15" name="Image 2" descr="./icons/mobile_89A8C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4344" y="356616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91656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9A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 SCREENSHOT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391656" y="5788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07424" y="196596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15875">
            <a:solidFill>
              <a:srgbClr val="89A8CA"/>
            </a:solidFill>
            <a:prstDash val="dash"/>
          </a:ln>
        </p:spPr>
      </p:sp>
      <p:pic>
        <p:nvPicPr>
          <p:cNvPr id="19" name="Image 3" descr="./icons/mobile_89A8CA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77272" y="3566160"/>
            <a:ext cx="512064" cy="5120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44584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9A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 SCREENSHOT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9244584" y="5788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Auth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Agentic Workflows &amp; Live Data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027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evaluate the effectiveness of agentic workflows combined with real-time web scraping data in generating accurate and timely investment recommendations."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321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4576572" cy="20116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13" name="Image 0" descr="./icons/check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32461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467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market data scraper integrated with the exchange's live trade API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scraper across 3 financial sources with deduplication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analysis pipeline for headlines &amp; summaries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task queue with scheduled Beat jobs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migration for semantic (RAG) search over news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34340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44568" y="3154680"/>
            <a:ext cx="384048" cy="384048"/>
          </a:xfrm>
          <a:prstGeom prst="ellipse">
            <a:avLst/>
          </a:prstGeom>
          <a:solidFill>
            <a:srgbClr val="E8A93A"/>
          </a:solidFill>
          <a:ln/>
        </p:spPr>
      </p:sp>
      <p:pic>
        <p:nvPicPr>
          <p:cNvPr id="18" name="Image 1" descr="./icons/cogs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324612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943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investment-rules checker (price / % change alerts)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Celery worker + beat on a persistent schedule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scrape success-rate &amp; latency metrics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813816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39328" y="3154680"/>
            <a:ext cx="384048" cy="384048"/>
          </a:xfrm>
          <a:prstGeom prst="ellipse">
            <a:avLst/>
          </a:prstGeom>
          <a:solidFill>
            <a:srgbClr val="1C3D5A"/>
          </a:solidFill>
          <a:ln/>
        </p:spPr>
      </p:sp>
      <p:pic>
        <p:nvPicPr>
          <p:cNvPr id="23" name="Image 2" descr="./icons/route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768" y="32461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2396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9419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 continuously for 2+ weeks to gather evaluation data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AI-generated recommendations against actual price moves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accuracy &amp; timeliness findings for the report</a:t>
            </a:r>
            <a:endParaRPr lang="en-US" sz="106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·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Data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market data to AI-ready insight, on an automated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8884" y="23774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7544" y="2578608"/>
            <a:ext cx="548640" cy="548640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8" name="Image 0" descr="./icons/cloud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5560" y="270662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50796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0324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Trigger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0324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Beat, every 15 min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53132" y="3163824"/>
            <a:ext cx="219456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13" name="Shape 10"/>
          <p:cNvSpPr/>
          <p:nvPr/>
        </p:nvSpPr>
        <p:spPr>
          <a:xfrm>
            <a:off x="2890876" y="23774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99536" y="2578608"/>
            <a:ext cx="548640" cy="548640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5" name="Image 1" descr="./icons/search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7552" y="270662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72788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982316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CSE + News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82316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 &amp; headlines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875124" y="3163824"/>
            <a:ext cx="219456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20" name="Shape 16"/>
          <p:cNvSpPr/>
          <p:nvPr/>
        </p:nvSpPr>
        <p:spPr>
          <a:xfrm>
            <a:off x="5112868" y="23774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821528" y="2578608"/>
            <a:ext cx="548640" cy="548640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2" name="Image 2" descr="./icons/flask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9544" y="2706624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9478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204308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204308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analysis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097116" y="3163824"/>
            <a:ext cx="219456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27" name="Shape 22"/>
          <p:cNvSpPr/>
          <p:nvPr/>
        </p:nvSpPr>
        <p:spPr>
          <a:xfrm>
            <a:off x="7334860" y="23774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043520" y="2578608"/>
            <a:ext cx="548640" cy="548640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29" name="Image 3" descr="./icons/database_FFFFFF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1536" y="2706624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916772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42630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Embed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426300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9319108" y="3163824"/>
            <a:ext cx="219456" cy="164592"/>
          </a:xfrm>
          <a:prstGeom prst="rightArrow">
            <a:avLst/>
          </a:prstGeom>
          <a:solidFill>
            <a:srgbClr val="89A8CA"/>
          </a:solidFill>
          <a:ln/>
        </p:spPr>
      </p:sp>
      <p:sp>
        <p:nvSpPr>
          <p:cNvPr id="34" name="Shape 28"/>
          <p:cNvSpPr/>
          <p:nvPr/>
        </p:nvSpPr>
        <p:spPr>
          <a:xfrm>
            <a:off x="9556852" y="237744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B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1E33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265512" y="2578608"/>
            <a:ext cx="548640" cy="548640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36" name="Image 4" descr="./icons/robot_FFFFFF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93528" y="2706624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138764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9648292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Retrieval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9648292" y="3639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answers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1280160" y="4663440"/>
            <a:ext cx="9631375" cy="868680"/>
          </a:xfrm>
          <a:prstGeom prst="roundRect">
            <a:avLst>
              <a:gd name="adj" fmla="val 12632"/>
            </a:avLst>
          </a:prstGeom>
          <a:solidFill>
            <a:srgbClr val="1C3D5A"/>
          </a:solidFill>
          <a:ln/>
        </p:spPr>
      </p:sp>
      <p:pic>
        <p:nvPicPr>
          <p:cNvPr id="41" name="Image 5" descr="./icons/bulb_F5B942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08760" y="4892040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057400" y="47091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win: fixed the CSE trade-summary integration to pull directly from the exchange's live JSON API — removing brittle HTML scraping and improving data reliability.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User Satisfaction &amp; Trust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027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assess user satisfaction, trust, and perceived usefulness of the AI assistant, including its automated investment features, through usability testing and user feedback from beginner investors."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321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13" name="Image 0" descr="./icons/check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32461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467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plan drafted (SUS + trust questionnaire)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participant profile defined: first-time CSE investors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34340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44568" y="3154680"/>
            <a:ext cx="384048" cy="384048"/>
          </a:xfrm>
          <a:prstGeom prst="ellipse">
            <a:avLst/>
          </a:prstGeom>
          <a:solidFill>
            <a:srgbClr val="E8A93A"/>
          </a:solidFill>
          <a:ln/>
        </p:spPr>
      </p:sp>
      <p:pic>
        <p:nvPicPr>
          <p:cNvPr id="18" name="Image 1" descr="./icons/cogs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324612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943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 the core chat + dashboard flow ahead of testing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test scripts and consent / feedback forms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813816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39328" y="3154680"/>
            <a:ext cx="384048" cy="384048"/>
          </a:xfrm>
          <a:prstGeom prst="ellipse">
            <a:avLst/>
          </a:prstGeom>
          <a:solidFill>
            <a:srgbClr val="1C3D5A"/>
          </a:solidFill>
          <a:ln/>
        </p:spPr>
      </p:sp>
      <p:pic>
        <p:nvPicPr>
          <p:cNvPr id="23" name="Image 2" descr="./icons/route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768" y="32461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2396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9419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8–10 beginner-investor participants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moderated usability sessions once Objective 1 flow is stable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System Usability Scale (SUS) scores + qualitative feedback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trust &amp; perceived-usefulness results for the final report</a:t>
            </a:r>
            <a:endParaRPr lang="en-US" sz="106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vs. Traditional Research Methods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027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measure and compare the system's technical performance, including data accuracy, response time, and reliability, against traditional stock research methods."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321040" cy="201168"/>
          </a:xfrm>
          <a:prstGeom prst="roundRect">
            <a:avLst>
              <a:gd name="adj" fmla="val 50000"/>
            </a:avLst>
          </a:prstGeom>
          <a:solidFill>
            <a:srgbClr val="E4ECF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50592"/>
            <a:ext cx="166420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90068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54680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13" name="Image 0" descr="./icons/check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32461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0467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methodology outlined (response time, data freshness, accuracy)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traditional-method comparison group identified (manual CSE lookup)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34340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44568" y="3154680"/>
            <a:ext cx="384048" cy="384048"/>
          </a:xfrm>
          <a:prstGeom prst="ellipse">
            <a:avLst/>
          </a:prstGeom>
          <a:solidFill>
            <a:srgbClr val="E8A93A"/>
          </a:solidFill>
          <a:ln/>
        </p:spPr>
      </p:sp>
      <p:pic>
        <p:nvPicPr>
          <p:cNvPr id="18" name="Image 1" descr="./icons/cogs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008" y="324612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943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lightweight request-timing / logging middleware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accuracy metrics for scraped vs. official CSE data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8138160" y="297180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01600" dist="25400" dir="5400000">
              <a:srgbClr val="0B1E33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39328" y="3154680"/>
            <a:ext cx="384048" cy="384048"/>
          </a:xfrm>
          <a:prstGeom prst="ellipse">
            <a:avLst/>
          </a:prstGeom>
          <a:solidFill>
            <a:srgbClr val="1C3D5A"/>
          </a:solidFill>
          <a:ln/>
        </p:spPr>
      </p:sp>
      <p:pic>
        <p:nvPicPr>
          <p:cNvPr id="23" name="Image 2" descr="./icons/route_FFFFFF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768" y="32461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23960" y="3154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94192" y="3685032"/>
            <a:ext cx="30998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API response-time &amp; data-freshness logging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side-by-side trials: AI assistant vs. manual research</a:t>
            </a:r>
            <a:endParaRPr lang="en-US" sz="106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6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comparative results into the final evaluation report</a:t>
            </a:r>
            <a:endParaRPr lang="en-US" sz="106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1C3D5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InvestAI Stands Today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8562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AI Assistant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167128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13324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167128"/>
            <a:ext cx="5504688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0" y="185623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6426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Agentic Workflows &amp; Scraping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953512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133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953512"/>
            <a:ext cx="4325112" cy="2011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264261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User Satisfaction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39896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1332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739896"/>
            <a:ext cx="157276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34290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42153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— Performance Benchmarking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52628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1332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526280"/>
            <a:ext cx="1572768" cy="201168"/>
          </a:xfrm>
          <a:prstGeom prst="roundRect">
            <a:avLst>
              <a:gd name="adj" fmla="val 50000"/>
            </a:avLst>
          </a:prstGeom>
          <a:solidFill>
            <a:srgbClr val="E8A9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42153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784080" y="1874520"/>
            <a:ext cx="1874520" cy="4160520"/>
          </a:xfrm>
          <a:prstGeom prst="roundRect">
            <a:avLst>
              <a:gd name="adj" fmla="val 6829"/>
            </a:avLst>
          </a:prstGeom>
          <a:solidFill>
            <a:srgbClr val="1C3D5A"/>
          </a:solidFill>
          <a:ln/>
          <a:effectLst>
            <a:outerShdw sx="100000" sy="100000" kx="0" ky="0" algn="bl" rotWithShape="0" blurRad="177800" dist="50800" dir="5400000">
              <a:srgbClr val="0B1E33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875520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12680" y="3794760"/>
            <a:ext cx="1417320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3977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875520" y="4572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Layer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12680" y="5257800"/>
            <a:ext cx="1417320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5394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84080" y="5760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Final Demo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member's ownership across the InvestAI codebase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658368" cy="658368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8" name="Image 0" descr="./icons/code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24048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221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 Sanjeev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25877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Engineering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063240"/>
            <a:ext cx="4892040" cy="0"/>
          </a:xfrm>
          <a:prstGeom prst="line">
            <a:avLst/>
          </a:prstGeom>
          <a:noFill/>
          <a:ln w="12700">
            <a:solidFill>
              <a:srgbClr val="E3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227832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PostgreSQL schema &amp; SQLAlchemy models (users, portfolios, chat, market data)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FastAPI routers: auth, chat, portfolio, stocks, dashboard, notifications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Supabase Auth flow: registration, OTP, login, password reset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CSE scraper, sentiment pipeline, and Celery task scheduling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Supabase (Postgres + pgvector) as the production backend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frontend-backend API integration and endpoint wiring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F4F8FC"/>
          </a:solidFill>
          <a:ln/>
          <a:effectLst>
            <a:outerShdw sx="100000" sy="100000" kx="0" ky="0" algn="bl" rotWithShape="0" blurRad="127000" dist="25400" dir="5400000">
              <a:srgbClr val="0B1E33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240280"/>
            <a:ext cx="658368" cy="658368"/>
          </a:xfrm>
          <a:prstGeom prst="ellipse">
            <a:avLst/>
          </a:prstGeom>
          <a:solidFill>
            <a:srgbClr val="002743"/>
          </a:solidFill>
          <a:ln/>
        </p:spPr>
      </p:sp>
      <p:pic>
        <p:nvPicPr>
          <p:cNvPr id="15" name="Image 1" descr="./icons/mobile_FFFFFF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1112" y="240487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221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Sajeevan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269480" y="25877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 Integration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46520" y="3063240"/>
            <a:ext cx="4892040" cy="0"/>
          </a:xfrm>
          <a:prstGeom prst="line">
            <a:avLst/>
          </a:prstGeom>
          <a:noFill/>
          <a:ln w="12700">
            <a:solidFill>
              <a:srgbClr val="E3EB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3227832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React Native / Expo mobile application structure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15+ screens: Home, Chat, Portfolio, Watchlist, Learn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authentication UI flow (Login, Register, OTP, Reset Password)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risk-profiling assessment &amp; onboarding experience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UI components to backend API services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0F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InvestAI design system across all screens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7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Final Submission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milestones between now and the final demonstration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221992"/>
            <a:ext cx="0" cy="3364992"/>
          </a:xfrm>
          <a:prstGeom prst="line">
            <a:avLst/>
          </a:prstGeom>
          <a:noFill/>
          <a:ln w="38100">
            <a:solidFill>
              <a:srgbClr val="CF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0027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984248"/>
            <a:ext cx="9905695" cy="713232"/>
          </a:xfrm>
          <a:prstGeom prst="roundRect">
            <a:avLst>
              <a:gd name="adj" fmla="val 12821"/>
            </a:avLst>
          </a:prstGeom>
          <a:solidFill>
            <a:srgbClr val="F4F8FC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842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Core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9842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agent tool-calling loop, connect chat UI to live backend, harden authentication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42855" y="21488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42855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898648"/>
            <a:ext cx="365760" cy="365760"/>
          </a:xfrm>
          <a:prstGeom prst="ellipse">
            <a:avLst/>
          </a:prstGeom>
          <a:solidFill>
            <a:srgbClr val="0027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2825496"/>
            <a:ext cx="9905695" cy="713232"/>
          </a:xfrm>
          <a:prstGeom prst="roundRect">
            <a:avLst>
              <a:gd name="adj" fmla="val 12821"/>
            </a:avLst>
          </a:prstGeom>
          <a:solidFill>
            <a:srgbClr val="F4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8254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Stabilize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282549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scraping + rules engine on schedule; fix bugs surfaced in daily 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42855" y="299008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2855" y="2990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739896"/>
            <a:ext cx="365760" cy="365760"/>
          </a:xfrm>
          <a:prstGeom prst="ellipse">
            <a:avLst/>
          </a:prstGeom>
          <a:solidFill>
            <a:srgbClr val="0027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17320" y="3666744"/>
            <a:ext cx="9905695" cy="713232"/>
          </a:xfrm>
          <a:prstGeom prst="roundRect">
            <a:avLst>
              <a:gd name="adj" fmla="val 12821"/>
            </a:avLst>
          </a:prstGeom>
          <a:solidFill>
            <a:srgbClr val="F4F8FC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366674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(Obj. 3)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66674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participants, run SUS testing, collect trust &amp; satisfaction feedback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42855" y="383133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2855" y="38313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4581144"/>
            <a:ext cx="365760" cy="365760"/>
          </a:xfrm>
          <a:prstGeom prst="ellipse">
            <a:avLst/>
          </a:prstGeom>
          <a:solidFill>
            <a:srgbClr val="0027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17320" y="4507992"/>
            <a:ext cx="9905695" cy="713232"/>
          </a:xfrm>
          <a:prstGeom prst="roundRect">
            <a:avLst>
              <a:gd name="adj" fmla="val 12821"/>
            </a:avLst>
          </a:prstGeom>
          <a:solidFill>
            <a:srgbClr val="F4F8FC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45079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(Obj. 4)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450799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response times &amp; data accuracy; compare against manual research baseline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42855" y="467258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42855" y="46725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" y="5422392"/>
            <a:ext cx="365760" cy="365760"/>
          </a:xfrm>
          <a:prstGeom prst="ellipse">
            <a:avLst/>
          </a:prstGeom>
          <a:solidFill>
            <a:srgbClr val="0027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422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17320" y="5349240"/>
            <a:ext cx="9905695" cy="713232"/>
          </a:xfrm>
          <a:prstGeom prst="roundRect">
            <a:avLst>
              <a:gd name="adj" fmla="val 12821"/>
            </a:avLst>
          </a:prstGeom>
          <a:solidFill>
            <a:srgbClr val="F4F8FC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0" y="53492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Demo Prep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53492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findings, polish UI, rehearse final demonstration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042855" y="551383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FE5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42855" y="5513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InvestAI  |  Mid-Demonstration Phase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C3D5A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943600" cy="5943600"/>
          </a:xfrm>
          <a:prstGeom prst="ellipse">
            <a:avLst/>
          </a:prstGeom>
          <a:solidFill>
            <a:srgbClr val="1C3D5A">
              <a:alpha val="36000"/>
            </a:srgbClr>
          </a:solidFill>
          <a:ln/>
        </p:spPr>
      </p:sp>
      <p:pic>
        <p:nvPicPr>
          <p:cNvPr id="4" name="Image 0" descr="./icons/robot_FFFFFF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4368" y="1600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24248" y="3977640"/>
            <a:ext cx="2743200" cy="0"/>
          </a:xfrm>
          <a:prstGeom prst="line">
            <a:avLst/>
          </a:prstGeom>
          <a:noFill/>
          <a:ln w="19050">
            <a:solidFill>
              <a:srgbClr val="1C3D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4251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Sanjeev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4251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Sajeevan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 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github.com/sanjeev200009/investment_AI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InvestAI — Mid Demonstration Phase 2</dc:title>
  <dc:subject>PptxGenJS Presentation</dc:subject>
  <dc:creator>Sanjeev &amp; Sajeevan</dc:creator>
  <cp:lastModifiedBy>Sanjeev &amp; Sajeevan</cp:lastModifiedBy>
  <cp:revision>1</cp:revision>
  <dcterms:created xsi:type="dcterms:W3CDTF">2026-07-04T11:24:18Z</dcterms:created>
  <dcterms:modified xsi:type="dcterms:W3CDTF">2026-07-04T11:24:18Z</dcterms:modified>
</cp:coreProperties>
</file>